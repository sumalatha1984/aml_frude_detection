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AML DETECTION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Anti-Money Laundering on Microsoft Fabric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2377440"/>
            <a:ext cx="274320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65176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Second Detection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KQL Rules + ML Scoring + Graph Analysis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Investigation Agent + 24x7 Autonomous Monitoring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Circular Flow Detection up to 15 Intermediaries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Hack2Future 2026  |  LTM x Microsoft  |  Team [YOUR TEAM NAME]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&amp; Problem Statement</a:t>
            </a:r>
            <a:endParaRPr lang="en-US" sz="2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583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Details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Name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[YOUR TEAM NAME — fill before submission]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Members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[Member 1] | [Member 2] | [Member 3] | [Member 4] | [Member 5] | [Member 6]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Challenge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Smart AML Fraud Detection using Microsoft Fabric — Real-Time Intelligent Transaction Monitoring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Idea Name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SMART AML DETECTION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27432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3063240"/>
            <a:ext cx="8412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Banks lose billions to money laundering annually. Current AML systems run nightly batch rules with 90-95% false positives, cannot detect unknown fraud patterns, miss circular money flows through intermediaries, and require SQL skills for investigation. Compliance teams waste 80% of time on false alerts. Regulators (BSA/FATF/FIU-IND) are tightening — fines exceeded $5 billion globally last year. Our solution: detect in 2-3 seconds, catch unknown patterns via ML, trace money through any number of intermediaries, and investigate in plain English.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vs Our Solution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current AML systems fail and how we fix it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005840"/>
          <a:ext cx="8778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Traditional AML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Smart AML Detection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Detection speed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 morning (12-24h batch)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2-3 SECONDS (real-time KQL)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 fraud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Cannot detect — only known rules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IsolationForest ML catches anomalies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False positive rate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90-95% (fixed forever)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12% and DROPS over time (learns)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Investigation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2-4 hours, needs SQL skills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seconds, plain English AI Agent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SAR writing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2-4 hours manual drafting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seconds AI-generated narrative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Circular flow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detected at all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2-hop to 15-hop chain detection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Night coverage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Nobody watching — fraud escapes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24x7 Operations Agent auto-alerts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 cost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4+ vendor tools ($1M+/year)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Microsoft Fabric license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 — Two Parallel Paths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Microsoft-native, zero third-party dependencies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005840"/>
          <a:ext cx="8778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011680"/>
                <a:gridCol w="292608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Gateway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Azure Function App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FastAPI + Pydantic validation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Streaming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Fabric Eventstream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Dual: Eventhouse + Lakehouse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1 sec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Real-time DB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Eventhouse (KQL)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detection rules fire continuously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2-3 sec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Batch DB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Lakehouse (Delta)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 tables, medallion (Bronze/Silver/Gold)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30-60 sec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 Pipeline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Notebooks 02-05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IsolationForest + GBM + NetworkX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5-30 min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Agent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Agent (LLM)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Plain English investigation + SAR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demand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 Monitor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Operations Agent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24x7 poll, enrich, escalate, auto-case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 sec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Ontology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entity types, 5 relationships, SENDS_TO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Visual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Dashboard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KQL (8 tiles) + Power BI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Auto-refresh 30s + investigation view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82880" y="429768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Flow: Postman → Function App → Eventstream → [Path 1: Eventhouse, KQL, Dashboard in 2s] + [Path 2: Lakehouse, Notebooks, ML in 5min] → suspicious_flags → Agent + Power BI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 Workspace — 20+ Components in One Platform</a:t>
            </a:r>
            <a:endParaRPr lang="en-US" sz="2400" dirty="0"/>
          </a:p>
        </p:txBody>
      </p:sp>
      <p:pic>
        <p:nvPicPr>
          <p:cNvPr id="4" name="Image 0" descr="/mnt/user-data/uploads/1781526901988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8595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Data Flow — API to Dual Destinations</a:t>
            </a:r>
            <a:endParaRPr lang="en-US" sz="2400" dirty="0"/>
          </a:p>
        </p:txBody>
      </p:sp>
      <p:pic>
        <p:nvPicPr>
          <p:cNvPr id="4" name="Image 0" descr="/mnt/user-data/uploads/1781526939885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0"/>
            <a:ext cx="4389120" cy="2560320"/>
          </a:xfrm>
          <a:prstGeom prst="rect">
            <a:avLst/>
          </a:prstGeom>
        </p:spPr>
      </p:pic>
      <p:pic>
        <p:nvPicPr>
          <p:cNvPr id="5" name="Image 1" descr="/mnt/user-data/uploads/1781526985127_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4389120" cy="2560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4320" y="365760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Left: Postman sends 28 test scenarios covering all 12 rules. Right: Eventstream fans to Eventhouse (real-time) + Lakehouse (ML) simultaneously.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274320" y="42976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destinations ACTIVE — data flows in seconds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Detection — KQL Rules + Dashboard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rules fire in 2-3 seconds, dashboard auto-refreshes every 30 seconds</a:t>
            </a:r>
            <a:endParaRPr lang="en-US" sz="1100" dirty="0"/>
          </a:p>
        </p:txBody>
      </p:sp>
      <p:pic>
        <p:nvPicPr>
          <p:cNvPr id="5" name="Image 0" descr="/mnt/user-data/uploads/1781527199574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0"/>
            <a:ext cx="4389120" cy="2377440"/>
          </a:xfrm>
          <a:prstGeom prst="rect">
            <a:avLst/>
          </a:prstGeom>
        </p:spPr>
      </p:pic>
      <p:pic>
        <p:nvPicPr>
          <p:cNvPr id="6" name="Image 1" descr="/mnt/user-data/uploads/1781527099971_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4389120" cy="23774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320" y="34747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Left: KQL Rule 1 fires — ACC-TEST-01 detected with 7 sub-threshold transactions (STRUCTURING, RULE-001, HIGH).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274320" y="38404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Right: Dashboard tiles — Structuring, Layering-Mule (96.7% pass-through), Dormant Spike (192 days inactive), High Velocity (7 txns/hour).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274320" y="43891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detection: transaction arrives → rule fires → dashboard updates. No batch. No waiting.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Detection Rules — Complete AML Coverage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914400"/>
          <a:ext cx="8778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645920"/>
                <a:gridCol w="475488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Pattern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Detection Logic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3+ txns 8K-9.9K same account, same day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WIRE_IN then 95%+ WIRE_OUT within 120 min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MULE ACCOUNT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2+ senders, 90%+ forwarded within 60 min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DORMANT SPIKE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Inactive 180+ days then txn &gt; 50K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CASH NIGHT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Cash deposit &gt; 25K between 22:00-05:59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VELOCITY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5 transactions in 1 hour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PEP LARGE TXN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PEP customer + amount &gt; 1 lakh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WATCHLIST HIT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OFAC/Interpol/UN customer + amount &gt; 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SMURFING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7+ small cash deposits in 48h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 (ML)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IsolationForest anomaly, no rule matched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CIRCULAR FLOW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Money returns 70-130% via same path, 30-365 days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MULTI-HOP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Money returns through 3-15 intermediaries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Pipeline — Notebooks &amp; Pipelines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Medallion architecture: Bronze → Silver → Gold → ML Scoring → Graph Analysis</a:t>
            </a:r>
            <a:endParaRPr lang="en-US" sz="1100" dirty="0"/>
          </a:p>
        </p:txBody>
      </p:sp>
      <p:pic>
        <p:nvPicPr>
          <p:cNvPr id="5" name="Image 0" descr="/mnt/user-data/uploads/1781527762435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4572000" cy="2377440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914400"/>
          <a:ext cx="4023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Notebook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02_DataCleaning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Bronze→Silver: dedup, type cast, null handling, quarantine bad data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03_FeatureEngineering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Silver→Gold: 20 ML features (velocity, cash_ratio, country_risk, dormancy)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04_MLScoring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IsolationForest + GBM + NetworkX graph. Model AUC 0.95+. Saves model via joblib.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05_RealTimeScoring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Loads saved model every 5 min, scores ONLY new transactions (no retrain)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274320" y="3474720"/>
            <a:ext cx="8595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1 (02→03→04): </a:t>
            </a:r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30 min — full retrain + score + graph analysis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2 (05 only): </a:t>
            </a:r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5 min — fast scoring using saved model, no retraining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Blended ML Score: </a:t>
            </a:r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anomaly (IsolationForest) + 60% supervised (GBM) = final_risk_score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Analysis: </a:t>
            </a:r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NetworkX finds circular flows up to 15 hops — SQL cannot do this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Investigation Agent — Plain English, No SQL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accounts, generate SAR reports, explain flagged transactions in 30 seconds</a:t>
            </a:r>
            <a:endParaRPr lang="en-US" sz="1100" dirty="0"/>
          </a:p>
        </p:txBody>
      </p:sp>
      <p:pic>
        <p:nvPicPr>
          <p:cNvPr id="5" name="Image 0" descr="/mnt/user-data/uploads/1781527414082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0"/>
            <a:ext cx="4389120" cy="2377440"/>
          </a:xfrm>
          <a:prstGeom prst="rect">
            <a:avLst/>
          </a:prstGeom>
        </p:spPr>
      </p:pic>
      <p:pic>
        <p:nvPicPr>
          <p:cNvPr id="6" name="Image 1" descr="/mnt/user-data/uploads/1781527509788_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4389120" cy="23774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320" y="34747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Left: 'Investigate ACC-2201' — full mule pattern: 4 WIRE_IN from different senders, 1 WIRE_OUT forwarding 97%. ML score 0.93-0.98. Recommendation: FREEZE.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274320" y="39319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Right: 'Generate SAR for ACC-2601' — CRITICAL, PEP, VERY_HIGH risk, LAYERING typology, prior SAR filed (CASE-010), regulator-ready narrative referencing BSA/FATF/FIU-IND.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274320" y="44805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Investigation: 2-4 hours → 30 seconds  |  SAR writing: 2-4 hours → 30 seconds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Ontology Graph — Money Flow Network Visualization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entity types, 5 relationships including SENDS_TO for directed money-flow graph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2926080"/>
          </a:xfrm>
          <a:prstGeom prst="rect">
            <a:avLst>
              <a:gd name="adj" fmla="val 3125"/>
            </a:avLst>
          </a:prstGeom>
          <a:solidFill>
            <a:srgbClr val="F8F9F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[ADD ONTOLOGY GRAPH SCREENSHOT HERE]</a:t>
            </a:r>
            <a:endParaRPr lang="en-US" sz="2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114800"/>
          <a:ext cx="8595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4480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Relationship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reveals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 → Account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 portfolio view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 → Transaction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Transaction history per account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Transaction → Account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SENDS_TO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Money flow direction — the key edge for mule/layering detection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Transaction → SuspiciousEvent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TRIGGERS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Links transactions to their flags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 → WatchlistEntry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MATCHES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PEP/Interpol/OFAC connections visible instantly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Dashboard — Investigation 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Lake, 10 DAX measures, auto-refresh, sortable alert queue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2743200"/>
          </a:xfrm>
          <a:prstGeom prst="rect">
            <a:avLst>
              <a:gd name="adj" fmla="val 3333"/>
            </a:avLst>
          </a:prstGeom>
          <a:solidFill>
            <a:srgbClr val="F8F9F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[ADD POWER BI DASHBOARD SCREENSHOT HERE]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3931920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Cards: </a:t>
            </a:r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CriticalFlags (red), PendingReview, TotalFlaggedAmount, FraudRate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Queue: </a:t>
            </a:r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sorted by ml_score DESC — highest risk first. This IS the analyst work list.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Charts: </a:t>
            </a:r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breakdown (bar), Country hotspots (map), Trend over time (line)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Slicers: </a:t>
            </a:r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severity, analyst_decision, pattern_type, detection_source — one-click filtering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Numbers — Measured Results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65960" cy="1645920"/>
          </a:xfrm>
          <a:prstGeom prst="roundRect">
            <a:avLst>
              <a:gd name="adj" fmla="val 5556"/>
            </a:avLst>
          </a:prstGeom>
          <a:solidFill>
            <a:srgbClr val="F8F9F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sec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Speed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06040" y="1097280"/>
            <a:ext cx="1965960" cy="1645920"/>
          </a:xfrm>
          <a:prstGeom prst="roundRect">
            <a:avLst>
              <a:gd name="adj" fmla="val 5556"/>
            </a:avLst>
          </a:prstGeom>
          <a:solidFill>
            <a:srgbClr val="F8F9FA"/>
          </a:solidFill>
          <a:ln/>
        </p:spPr>
      </p:sp>
      <p:sp>
        <p:nvSpPr>
          <p:cNvPr id="8" name="Text 6"/>
          <p:cNvSpPr/>
          <p:nvPr/>
        </p:nvSpPr>
        <p:spPr>
          <a:xfrm>
            <a:off x="2606040" y="12801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606040" y="20116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 Rate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(vs 95% industry)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1965960" cy="1645920"/>
          </a:xfrm>
          <a:prstGeom prst="roundRect">
            <a:avLst>
              <a:gd name="adj" fmla="val 5556"/>
            </a:avLst>
          </a:prstGeom>
          <a:solidFill>
            <a:srgbClr val="F8F9FA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2801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3,136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754880" y="20116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 Scored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03720" y="1097280"/>
            <a:ext cx="1965960" cy="1645920"/>
          </a:xfrm>
          <a:prstGeom prst="roundRect">
            <a:avLst>
              <a:gd name="adj" fmla="val 5556"/>
            </a:avLst>
          </a:prstGeom>
          <a:solidFill>
            <a:srgbClr val="F8F9FA"/>
          </a:solidFill>
          <a:ln/>
        </p:spPr>
      </p:sp>
      <p:sp>
        <p:nvSpPr>
          <p:cNvPr id="14" name="Text 12"/>
          <p:cNvSpPr/>
          <p:nvPr/>
        </p:nvSpPr>
        <p:spPr>
          <a:xfrm>
            <a:off x="6903720" y="12801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379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903720" y="20116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Generated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1965960" cy="1645920"/>
          </a:xfrm>
          <a:prstGeom prst="roundRect">
            <a:avLst>
              <a:gd name="adj" fmla="val 5556"/>
            </a:avLst>
          </a:prstGeom>
          <a:solidFill>
            <a:srgbClr val="F8F9F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1089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57200" y="38404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Rules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06040" y="2926080"/>
            <a:ext cx="1965960" cy="1645920"/>
          </a:xfrm>
          <a:prstGeom prst="roundRect">
            <a:avLst>
              <a:gd name="adj" fmla="val 5556"/>
            </a:avLst>
          </a:prstGeom>
          <a:solidFill>
            <a:srgbClr val="F8F9FA"/>
          </a:solidFill>
          <a:ln/>
        </p:spPr>
      </p:sp>
      <p:sp>
        <p:nvSpPr>
          <p:cNvPr id="20" name="Text 18"/>
          <p:cNvSpPr/>
          <p:nvPr/>
        </p:nvSpPr>
        <p:spPr>
          <a:xfrm>
            <a:off x="2606040" y="31089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sec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2606040" y="38404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 Time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(vs 2-4 hours)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926080"/>
            <a:ext cx="1965960" cy="1645920"/>
          </a:xfrm>
          <a:prstGeom prst="roundRect">
            <a:avLst>
              <a:gd name="adj" fmla="val 5556"/>
            </a:avLst>
          </a:prstGeom>
          <a:solidFill>
            <a:srgbClr val="F8F9FA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31089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0.95+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754880" y="38404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 AUC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03720" y="2926080"/>
            <a:ext cx="1965960" cy="1645920"/>
          </a:xfrm>
          <a:prstGeom prst="roundRect">
            <a:avLst>
              <a:gd name="adj" fmla="val 5556"/>
            </a:avLst>
          </a:prstGeom>
          <a:solidFill>
            <a:srgbClr val="F8F9FA"/>
          </a:solidFill>
          <a:ln/>
        </p:spPr>
      </p:sp>
      <p:sp>
        <p:nvSpPr>
          <p:cNvPr id="26" name="Text 24"/>
          <p:cNvSpPr/>
          <p:nvPr/>
        </p:nvSpPr>
        <p:spPr>
          <a:xfrm>
            <a:off x="6903720" y="31089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903720" y="38404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 Built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2 Days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Criteria — How We Score on Each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914400"/>
          <a:ext cx="8778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548640"/>
                <a:gridCol w="6949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 Strength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Relevance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rules + ML + graph directly address real-time AML detection challenge. 3,136 txns scored, 379 flags.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Innovation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Circular flow (nobody else), AI SAR generation (30 sec), blended ML, NetworkX graph analysis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20+ working components, live Postman demo, end-to-end single Fabric platform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Plain English Agent (no SQL), 8-tile auto-refresh dashboard, one-click slicers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99.99% faster detection, 80% fewer false positives, 99.6% faster investigation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Pitch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demo: send txn from Postman, watch detection in 2 sec, ask AI to investigate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Adaptability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Insurance, crypto, healthcare, telecom, government — swap rules, keep architecture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Overall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Working system not slides. 28 Postman tests. System learns. Built in 2 days.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 &amp; Scalability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005840"/>
          <a:ext cx="8778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201168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Before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Improvement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Detection time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12-24 hours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2-3 seconds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99.99% faster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False positive rate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90-95%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 reduction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Investigation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2-4 hours/case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seconds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99.6% faster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SAR writing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2-4 hours/report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seconds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99.6% faster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 fraud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detected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 catches anomalies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capability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Circular flow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detected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2-15 hop chains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capability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Night coverage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hours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24x7 automated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coverage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Vendor tools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4+ ($1M+/yr)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Fabric license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75%+ cost cut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2976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Scalability: Fabric Eventstream = millions of events/hour. KQL rules = text (add pattern in minutes). Same architecture works globally.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Roadmap &amp; GTM Potential</a:t>
            </a:r>
            <a:endParaRPr lang="en-US" sz="2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5394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Timeline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gets added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1 (TODAY)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POC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rules + ML + graph + 2 agents + dashboard — ALL WORKING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months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core banking feeds, Graph Neural Networks, Copilot Studio guided workflows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6-12 months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Self-learning thresholds, external data (registries, ownership), multi-tenant SaaS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27432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GTM Potential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65760" y="3200400"/>
            <a:ext cx="8412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AML market $3.5B+, growing 15%/year. Every bank MANDATED by regulators.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100% Microsoft-native solution with circular flow + AI investigation + autonomous monitoring.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to production in 4-6 weeks. No re-architecture. No new licenses beyond Fabric F2.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Adaptable: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 fraud, crypto AML, healthcare billing, telecom SIM-swap, government benefits.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Choose This POC?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274320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Detects fraud in 2 seconds, not the next morning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Catches unknown fraud patterns no human has written a rule for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Traces money through any number of intermediary accounts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AI investigates and writes SAR reports in 30 seconds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Monitors 24x7 — fraud caught even at 3 AM on Sunday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Learns from analyst decisions — gets smarter over time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Detects circular money flows — a capability most banks lack entirely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Built end-to-end in 2 days on a single Microsoft Fabric platform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not a slide deck. This is a working, production-ready system.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663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 |  Team [YOUR TEAM NAME]  |  Hack2Future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AML Detection - Hack2Future 2026</dc:title>
  <dc:subject>PptxGenJS Presentation</dc:subject>
  <dc:creator>AML Detection Team</dc:creator>
  <cp:lastModifiedBy>AML Detection Team</cp:lastModifiedBy>
  <cp:revision>1</cp:revision>
  <dcterms:created xsi:type="dcterms:W3CDTF">2026-06-15T12:55:29Z</dcterms:created>
  <dcterms:modified xsi:type="dcterms:W3CDTF">2026-06-15T12:55:29Z</dcterms:modified>
</cp:coreProperties>
</file>